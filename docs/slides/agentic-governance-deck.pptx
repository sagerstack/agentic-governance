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OF THIS SLIDE: establish which external AI-governance standards we reviewed to design our controls, and clarify their legal status (advisory, not law). Everything we build traces back to these two families.</a:t>
            </a:r>
          </a:p>
          <a:p>
            <a:r>
              <a:t>STANDARD 1 — Singapore IMDA Model AI Governance Framework. This is a family of voluntary 'model' frameworks published by IMDA / AI Verify Foundation: the 2020 Model AI Governance Framework (2nd ed.), the 2024 Generative AI edition (nine governance dimensions), and the 2026 Agentic AI edition. For our purposes the useful runtime content is: verifiable agent identity and authorization; the principle that least-privilege and controls must be enforced deterministically at the tool layer rather than via prompts; the explicit idea of 'MCP as a governance layer' sitting between the agent and downstream systems; input/output filters and RAG grounding to reduce injection and hallucination; and risk-based human oversight plus monitoring, failsafes and incident reporting.</a:t>
            </a:r>
          </a:p>
          <a:p>
            <a:r>
              <a:t>STANDARD 2 — MAS 'Safeguards for Agentic Finance at Runtime' (SAFR), white paper v1.0 dated 3 July 2026, supplemented by MAS FEAT principles and the Veritas methodology as analogues. SAFR is the only source purpose-built for RUNTIME, pre-execution governance of agent actions, and it maps almost one-to-one onto our app's tool choke point. Its core is a four-component checkpoint — Agent Identity, Controls Repository, Disposition Engine, Audit Log — that packages each proposed action into a 'Governance Envelope' and resolves it to one of four dispositions: Deny, Escalate, Auto-Execute, or Observe. SAFR is the architectural spine of our Group A design.</a:t>
            </a:r>
          </a:p>
          <a:p>
            <a:r>
              <a:t>MANDATORY vs RECOMMENDED — THE KEY FINDING (bottom panel). None of these instruments is legally binding today. SAFR explicitly states it 'does not constitute regulatory guidance or supervisory expectations'; IMDA frameworks are voluntary; and the MAS AI Risk Management Guidelines are still only in consultation. Because of that, our control catalogue scores every control on TWO axes: Axis A = binding force, which is 'Recommended (advisory)' for ALL controls; Axis B = the source's own normative strength (core / should / may). So when we later say a control is 'mandatory', we mean it is a framework's own core/'must' language — NOT a legal mandate. Genuine legal obligations would only arise from applicable law plus a finalised MAS AIRG, which is out of scope. Presenter takeaway: we treat these as best-practice engineering priorities, not compliance obligations.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OF THIS SLIDE: explain HOW we structure the defence. The controls from the standards are organised into four control groups (A, B, C, D). Together they form a defence-in-depth control plane; each group attaches to a specific seam in the agentic app. This slide replaces any 'phase' framing — the groups are the real structure.</a:t>
            </a:r>
          </a:p>
          <a:p>
            <a:r>
              <a:t>GROUP A — Action-time authorization. This is the heart of the defence: it decides whether a proposed tool action is allowed to execute, at the tool boundary (mcpCallTool). We build the SAFR checkpoint here — a governance envelope built from trusted state, verified agent identity, a machine-readable mandate of what each agent may do, a deterministic disposition (Deny/Escalate/Auto-Execute/Observe), and exposure + rate limits. It aligns to the MAS SAFR four-component checkpoint and IMDA least-privilege. It protects against the highest-impact threats: fraudulent payouts, hijacked or unauthorized actions, and action abuse (e.g. mass submissions). Model guardrails cannot stop a bad ACTION — only Group A can.</a:t>
            </a:r>
          </a:p>
          <a:p>
            <a:r>
              <a:t>GROUP B — Model input/output guardrails. This screens what enters and leaves the LLM/VLM, at the model hooks. We build prompt-injection detection on chat text AND on the receipt image (treated as untrusted input), PII redaction, and evidence-grounded output checks. It aligns to IMDA GenAI input filters and grounded-output/RAG guidance. It protects against agent hijack via a malicious receipt or injection, and PII leakage. B stops the hijack from landing; A contains the agent if it does. They are complementary — neither replaces the other.</a:t>
            </a:r>
          </a:p>
          <a:p>
            <a:r>
              <a:t>GROUP C — Human oversight and failsafes. This keeps a human in control of high-risk actions, at the humanEscalation node. We build risk-calibrated escalation (the disposition engine decides what needs a human), a substantive escalation contract with a timeout that defaults to deny, a fail-closed floor, and an employee recourse/appeal path. It aligns to SAFR's human-reviewer escalation and IMDA risk-based oversight. It protects against unreviewed high-risk or irreversible actions and rubber-stamp reviews (e.g. 'no reply' silently becoming approval).</a:t>
            </a:r>
          </a:p>
          <a:p>
            <a:r>
              <a:t>GROUP D — Audit, monitoring and incident. This provides a tamper-evident record and the ability to detect and respond, at the audit log. We build an immutable, PII-safe audit log, real-time monitoring wired to actual interventions (halt/terminate/fallback — not just dashboards), and an incident workflow. It aligns to the SAFR Audit Log and IMDA tamper-evident logging/monitoring. It protects against audit tampering, undetected attacks, and forensic gaps.</a:t>
            </a:r>
          </a:p>
          <a:p>
            <a:r>
              <a:t>WHAT WE ARE BUILDING NOW (footer). We start with Group A because it has the highest attack-defense value and, per the gap analysis, 83% of it is absent today. We are building an app-agnostic, in-process control plane at the tool boundary that uses DETERMINISTIC checks against forge-proof trusted state — there is no LLM in the decision loop, which matters because an LLM judge would itself be injectable. The Group A POC is delivered as six thin, independently testable slices: envelope → deny-unknown-tool → identity + mandate → integrity → exposure/rate/evidence → schema + escalate. Groups B, C and D follow incrementally on the same control plane.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OF THIS SLIDE: show where the Expense AI app stands TODAY against the recommended controls, from an evidence-based code audit (every score is backed by a specific file/line reading). This is the baseline we are fixing — it is NOT our build progress.</a:t>
            </a:r>
          </a:p>
          <a:p>
            <a:r>
              <a:t>HEADLINE: strong seams, near-zero enforcement. The app already has the right interception points (the mcpCallTool choke point, model hooks, a humanEscalation node, structured logging), but none of them actually governs. Of 28 assessable controls, ZERO are enforced today.</a:t>
            </a:r>
          </a:p>
          <a:p>
            <a:r>
              <a:t>SCORING KEY (legend) — read this carefully because it explains why 'Present' is 0. Present = a control is built AND deterministically enforced. Partial = a mechanism exists but is prompt-based, incomplete, or non-enforcing (e.g. a system-prompt instruction, a model-asserted check, or a log-only redaction). Absent = nothing found. Scored today: 0 Present, 11 Partial, 17 Absent. Overall that is 61% of controls missing entirely (Absent) and 0% enforced. The 11 'Partial' items are NOT real controls — they are hopeful mechanisms an attacker can bypass.</a:t>
            </a:r>
          </a:p>
          <a:p>
            <a:r>
              <a:t>GROUP A — Action-time authorization: 83% missing (10 of 12 absent, 2 partial, 0 enforced). What exists is only typed MCP schemas, a SELECT-only query guard, and a confidence threshold that is dead config (defined but never read). The biggest gap: mcpCallTool performs NO authorization — no envelope, identity, mandate, disposition, or value/rate limits. This is the single highest-leverage gap.</a:t>
            </a:r>
          </a:p>
          <a:p>
            <a:r>
              <a:t>GROUP B — Model input/output guardrails: 33% missing (2 of 6 absent, 4 partial, 0 enforced). Grounding, PII handling and graceful-failure exist but are prompt-based, model-asserted, or log-only. The biggest gap: no prompt-injection detection at all, and the receipt image is trusted as input — the classic agentic attack vector.</a:t>
            </a:r>
          </a:p>
          <a:p>
            <a:r>
              <a:t>GROUP C — Human oversight: 20% missing (1 of 5 absent, 4 partial, 0 enforced). Reviewers DO hold real authority and escalation persists a status, so this is the strongest group. But there is no timeout, no deadline, no default-deny, and no oversight-effectiveness metrics — an escalation can sit forever.</a:t>
            </a:r>
          </a:p>
          <a:p>
            <a:r>
              <a:t>GROUP D — Audit and monitoring: 80% missing (4 of 5 absent, 1 partial, 0 enforced). An end-to-end trace exists across logs and the LangGraph checkpointer, but the audit_log table is mutable and CASCADE-deletes with the claim, and there is no real-time monitoring wired to intervention and no incident flow.</a:t>
            </a:r>
          </a:p>
          <a:p>
            <a:r>
              <a:t>CONCLUSION (bottom bar): overall 61% of controls are missing entirely and 0% are enforced; Group A is the worst at 10 of 12 absent, so the POC targets Group A first — front-loading the fail-closed deny of unauthorized high-impact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PURPOSE OF THIS SLIDE: explain what we are actually building in the agentic-governance repository — the control-plane design — and how it is engineered to be agnostic to any specific agentic app, while still integrating cleanly with the Expense app.</a:t>
            </a:r>
          </a:p>
          <a:p>
            <a:r>
              <a:t>THE THREE LAYERS (left diagram, top to bottom). Layer 3 — the Host agentic app (e.g. Expense AI) keeps its logic unchanged; its only responsibilities are to expose trusted state through contextvars (which it already sets: authenticated employee id, the VLM-extracted receipt, the session claim id) and to make ONE minimal dependency-injection edit at its composition root so tool calls route through governance. Layer 2 — the Integration adapter is the only app-aware glue: it provides the governedMcpCallTool wrapper (identical async signature to the app's real tool boundary) and a CallContext assembler. Crucially it is INJECTED, not imported — it receives the trusted-state providers and the real tool via an install() call, so governance never imports the app. Layer 1 — the Governance CORE is fully app-agnostic and imports nothing app-specific.</a:t>
            </a:r>
          </a:p>
          <a:p>
            <a:r>
              <a:t>WHAT IS IN THE CORE. A deterministic decision engine that returns exactly one of Deny / Escalate / Auto-Execute / Observe, operating on a Governance Envelope built from trusted state. A set of Ports (abstract interfaces): identity registry, mandate store, policy-decision-point, counters, evidence evaluator, and audit sink. And pluggable Adapters implementing those ports: a pure-Python policy engine (chosen for the POC; OPA is a documented later drop-in), a JSONL audit sink, and in-memory registry and counters. Because the decision logic is deterministic, it is testable, auditable, and cannot be talked around — there is deliberately no LLM in the loop.</a:t>
            </a:r>
          </a:p>
          <a:p>
            <a:r>
              <a:t>HOW IT STAYS APP-AGNOSTIC (right column). First, core/ and ports/ import nothing app-specific — verified in code review (stdlib only). Second, the app injects its providers and real tool via install(), so the core has zero dependency on the app. Third, all policy — allowlists, mandates, thresholds — lives in the governance repo, not the app. Fourth, there is exactly one integration seam today (the tool boundary, mcpCallTool); model hooks are added later for Group B.</a:t>
            </a:r>
          </a:p>
          <a:p>
            <a:r>
              <a:t>ONBOARDING A NEW APP (green box). To govern a different agentic application you only do two things: (1) write a thin adapter that maps that app's ambient state to a CallContext, and (2) add one composition-root DI edit to call the wrapper. The core and the policy engine are unchanged. The Expense app is simply the first adapter.</a:t>
            </a:r>
          </a:p>
          <a:p>
            <a:r>
              <a:t>BOTTOM LINE (dark footer): decisions are deterministic, there is no LLM in the loop, and the system fails closed — if governance is unavailable, high-impact actions are denied rather than allowed through. This is what makes the layer both reusable and safe by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858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AI Governance Standards</a:t>
            </a:r>
          </a:p>
          <a:p>
            <a:r>
              <a:rPr sz="1300">
                <a:solidFill>
                  <a:srgbClr val="C6D3EA"/>
                </a:solidFill>
              </a:rPr>
              <a:t>Research summary — which frameworks we reviewed and what they mandate vs. recommend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486400" cy="28346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36192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D6CDF"/>
                </a:solidFill>
              </a:rPr>
              <a:t>1 · Singapore IMDA — Model AI Governance Framework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5B6677"/>
                </a:solidFill>
              </a:rPr>
              <a:t>Voluntary “model” frameworks: 2020 MGF · Generative AI (2024, 9 dimensions) · Agentic AI (2026)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</a:rPr>
              <a:t>•  Agent identity &amp; authorization; least-privilege &gt; prompt-layer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</a:rPr>
              <a:t>•  MCP as a governance layer; input/output filters; RAG grounding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</a:rPr>
              <a:t>•  Risk-based human oversight; monitoring, failsafes, incident reporting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371600"/>
            <a:ext cx="5486400" cy="28346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536192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29E7F"/>
                </a:solidFill>
              </a:rPr>
              <a:t>2 · MAS — Safeguards for Agentic Finance at Runtime (SAFR)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5B6677"/>
                </a:solidFill>
              </a:rPr>
              <a:t>White paper v1.0, 3 Jul 2026  ·  + MAS FEAT / Veritas (analogues)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</a:rPr>
              <a:t>•  Purpose-built for runtime, pre-execution control of agent actions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</a:rPr>
              <a:t>•  4-component checkpoint: Identity → Controls → Disposition → Audit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</a:rPr>
              <a:t>•  Governance Envelope → Deny / Escalate / Auto-Execute / Observe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370832"/>
            <a:ext cx="11183112" cy="196596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8813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B87A00"/>
                </a:solidFill>
              </a:rPr>
              <a:t>Mandatory vs. Recommended — key finding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</a:rPr>
              <a:t>No legal mandate. Both are advisory/voluntary — SAFR states it “does not constitute regulatory guidance”; IMDA is a voluntary model framework; MAS AI Risk Mgmt Guidelines are still in consultation.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F172A"/>
                </a:solidFill>
              </a:rPr>
              <a:t>Classified on two axes → Binding force = Recommended (advisory) for ALL controls · Source strength = core / should / may. “Mandatory” in our catalogue = a framework’s own core/“must” language, not law.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5B6677"/>
                </a:solidFill>
              </a:rPr>
              <a:t>Genuine legal mandates would arise only from applicable law + a finalised MAS AIRG (out of scope).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129E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858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Agentic Defence</a:t>
            </a:r>
          </a:p>
          <a:p>
            <a:r>
              <a:rPr sz="1300">
                <a:solidFill>
                  <a:srgbClr val="C6D3EA"/>
                </a:solidFill>
              </a:rPr>
              <a:t>Four control groups form a defence-in-depth control plane — what each defends, what we build, and the risk it retires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8016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0F172A"/>
                </a:solidFill>
              </a:rPr>
              <a:t>Groups A–D are the four layers of the governance control plane. Each attaches to a specific seam in the agentic app.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37360"/>
          <a:ext cx="11274552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520440"/>
                <a:gridCol w="2148840"/>
                <a:gridCol w="2404872"/>
              </a:tblGrid>
              <a:tr h="74066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Group — what it defends</a:t>
                      </a:r>
                    </a:p>
                  </a:txBody>
                  <a:tcPr anchor="ctr">
                    <a:solidFill>
                      <a:srgbClr val="1B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What we build</a:t>
                      </a:r>
                    </a:p>
                  </a:txBody>
                  <a:tcPr anchor="ctr">
                    <a:solidFill>
                      <a:srgbClr val="1B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Aligns to</a:t>
                      </a:r>
                    </a:p>
                  </a:txBody>
                  <a:tcPr anchor="ctr">
                    <a:solidFill>
                      <a:srgbClr val="1B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</a:rPr>
                        <a:t>Protects against</a:t>
                      </a:r>
                    </a:p>
                  </a:txBody>
                  <a:tcPr anchor="ctr">
                    <a:solidFill>
                      <a:srgbClr val="1B2A45"/>
                    </a:solidFill>
                  </a:tcPr>
                </a:tc>
              </a:tr>
              <a:tr h="7406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C03A2B"/>
                          </a:solidFill>
                        </a:rPr>
                        <a:t>A · Action-time authorization</a:t>
                      </a:r>
                    </a:p>
                    <a:p>
                      <a:r>
                        <a:rPr sz="950">
                          <a:solidFill>
                            <a:srgbClr val="5B6677"/>
                          </a:solidFill>
                        </a:rPr>
                        <a:t>Gate every tool action before it executes (the SAFR checkpoint)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</a:rPr>
                        <a:t>Envelope from trusted state · agent identity · mandate · deny / escalate / auto disposition · exposure &amp; rate limits — at mcpCallTool()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</a:rPr>
                        <a:t>MAS SAFR 4-component checkpoint · IMDA least-privilege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</a:rPr>
                        <a:t>Fraudulent payout · hijacked / unauthorized actions · action abuse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2D6CDF"/>
                          </a:solidFill>
                        </a:rPr>
                        <a:t>B · Model input/output guardrails</a:t>
                      </a:r>
                    </a:p>
                    <a:p>
                      <a:r>
                        <a:rPr sz="950">
                          <a:solidFill>
                            <a:srgbClr val="5B6677"/>
                          </a:solidFill>
                        </a:rPr>
                        <a:t>Inspect what enters and leaves the LLM / VLM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</a:rPr>
                        <a:t>Prompt-injection detection on chat + receipt image · PII redaction · evidence-grounded output — at model hooks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</a:rPr>
                        <a:t>IMDA GenAI input filters · grounded output / RAG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</a:rPr>
                        <a:t>Agent hijack via malicious receipt / injection · PII leakage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7406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B87A00"/>
                          </a:solidFill>
                        </a:rPr>
                        <a:t>C · Human oversight &amp; failsafes</a:t>
                      </a:r>
                    </a:p>
                    <a:p>
                      <a:r>
                        <a:rPr sz="950">
                          <a:solidFill>
                            <a:srgbClr val="5B6677"/>
                          </a:solidFill>
                        </a:rPr>
                        <a:t>Keep a human in control of high-risk 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</a:rPr>
                        <a:t>Risk-calibrated escalation · timeout → default-deny contract · fail-closed floor · employee recourse — at humanEscalation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</a:rPr>
                        <a:t>SAFR human-reviewer escalation · IMDA risk-based oversight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</a:rPr>
                        <a:t>Unreviewed high-risk / irreversible actions · rubber-stamp review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29E7F"/>
                          </a:solidFill>
                        </a:rPr>
                        <a:t>D · Audit, monitoring &amp; incident</a:t>
                      </a:r>
                    </a:p>
                    <a:p>
                      <a:r>
                        <a:rPr sz="950">
                          <a:solidFill>
                            <a:srgbClr val="5B6677"/>
                          </a:solidFill>
                        </a:rPr>
                        <a:t>Tamper-evident record + detect and respond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</a:rPr>
                        <a:t>Immutable, PII-safe audit log · real-time monitoring → intervention · incident workflow — at the audit log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</a:rPr>
                        <a:t>SAFR Audit Log · IMDA tamper-evident log &amp; monitoring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</a:rPr>
                        <a:t>Audit tampering · undetected attacks · forensic gaps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623560"/>
            <a:ext cx="11274552" cy="93268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705856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</a:rPr>
              <a:t>What we’re building now:  Group A first — the highest attack-defense value (83% of it is absent today).  An app-agnostic, in-process control plane at the tool boundary, using deterministic checks against forge-proof trusted state (no LLM in the loop).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C6D3EA"/>
                </a:solidFill>
              </a:rPr>
              <a:t>Group A POC = 6 thin slices: envelope → deny-unknown-tool → identity + mandate → integrity → exposure / rate / evidence → schema + escalate.  Groups B, C, D follow incrementally.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858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Gap Analysis — Current Expense AI App</a:t>
            </a:r>
          </a:p>
          <a:p>
            <a:r>
              <a:rPr sz="1300">
                <a:solidFill>
                  <a:srgbClr val="C6D3EA"/>
                </a:solidFill>
              </a:rPr>
              <a:t>Evidence-based code audit — grouped A–D, scored by enforcement strength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4552" cy="548640"/>
          </a:xfrm>
          <a:prstGeom prst="rect">
            <a:avLst/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16736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C03A2B"/>
                </a:solidFill>
              </a:rPr>
              <a:t>Strong seams, near-zero enforcement — 0 of 28 controls are actually enforced today. The interception points exist, but none governs.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38528"/>
            <a:ext cx="11274552" cy="84124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002536"/>
            <a:ext cx="108813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2B8A3E"/>
                </a:solidFill>
              </a:rPr>
              <a:t>Present</a:t>
            </a:r>
            <a:r>
              <a:rPr sz="1100">
                <a:solidFill>
                  <a:srgbClr val="0F172A"/>
                </a:solidFill>
              </a:rPr>
              <a:t> = built AND deterministically enforced.   </a:t>
            </a:r>
            <a:r>
              <a:rPr b="1" sz="1100">
                <a:solidFill>
                  <a:srgbClr val="B87A00"/>
                </a:solidFill>
              </a:rPr>
              <a:t>Partial</a:t>
            </a:r>
            <a:r>
              <a:rPr sz="1100">
                <a:solidFill>
                  <a:srgbClr val="0F172A"/>
                </a:solidFill>
              </a:rPr>
              <a:t> = a mechanism exists but is prompt-based, incomplete or non-enforcing.   </a:t>
            </a:r>
            <a:r>
              <a:rPr b="1" sz="1100">
                <a:solidFill>
                  <a:srgbClr val="C03A2B"/>
                </a:solidFill>
              </a:rPr>
              <a:t>Absent</a:t>
            </a:r>
            <a:r>
              <a:rPr sz="1100">
                <a:solidFill>
                  <a:srgbClr val="0F172A"/>
                </a:solidFill>
              </a:rPr>
              <a:t> = none found.</a:t>
            </a:r>
          </a:p>
          <a:p>
            <a:r>
              <a:rPr b="1" sz="1150">
                <a:solidFill>
                  <a:srgbClr val="C03A2B"/>
                </a:solidFill>
              </a:rPr>
              <a:t>Scored today:  0 Present  ·  11 Partial  ·  17 Absent   (of 28 controls)   →   61% missing (Absent),  0% enforced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907792"/>
          <a:ext cx="1127455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331720"/>
                <a:gridCol w="3063240"/>
                <a:gridCol w="2999232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Group — what it defends</a:t>
                      </a:r>
                    </a:p>
                  </a:txBody>
                  <a:tcPr anchor="ctr">
                    <a:solidFill>
                      <a:srgbClr val="1B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Missing (Absent)</a:t>
                      </a:r>
                    </a:p>
                  </a:txBody>
                  <a:tcPr anchor="ctr">
                    <a:solidFill>
                      <a:srgbClr val="1B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exists today (Partial)</a:t>
                      </a:r>
                    </a:p>
                  </a:txBody>
                  <a:tcPr anchor="ctr">
                    <a:solidFill>
                      <a:srgbClr val="1B2A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Biggest gap (Absent)</a:t>
                      </a:r>
                    </a:p>
                  </a:txBody>
                  <a:tcPr anchor="ctr">
                    <a:solidFill>
                      <a:srgbClr val="1B2A4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C03A2B"/>
                          </a:solidFill>
                        </a:rPr>
                        <a:t>A · Action-time authorization</a:t>
                      </a:r>
                    </a:p>
                    <a:p>
                      <a:r>
                        <a:rPr sz="950">
                          <a:solidFill>
                            <a:srgbClr val="5B6677"/>
                          </a:solidFill>
                        </a:rPr>
                        <a:t>gate tool 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C03A2B"/>
                          </a:solidFill>
                        </a:rPr>
                        <a:t>83% missing</a:t>
                      </a:r>
                    </a:p>
                    <a:p>
                      <a:r>
                        <a:rPr sz="900">
                          <a:solidFill>
                            <a:srgbClr val="5B6677"/>
                          </a:solidFill>
                        </a:rPr>
                        <a:t>10 of 12 absent · 2 partial · 0 enforced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</a:rPr>
                        <a:t>Typed MCP schemas; a SELECT-only query guard; a confidence threshold that is dead config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2A1E"/>
                          </a:solidFill>
                        </a:rPr>
                        <a:t>No authz at mcpCallTool — no envelope, identity, mandate, disposition, or value/rate limits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D6CDF"/>
                          </a:solidFill>
                        </a:rPr>
                        <a:t>B · Model input/output guardrails</a:t>
                      </a:r>
                    </a:p>
                    <a:p>
                      <a:r>
                        <a:rPr sz="950">
                          <a:solidFill>
                            <a:srgbClr val="5B6677"/>
                          </a:solidFill>
                        </a:rPr>
                        <a:t>screen LLM/VLM I/O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2D6CDF"/>
                          </a:solidFill>
                        </a:rPr>
                        <a:t>33% missing</a:t>
                      </a:r>
                    </a:p>
                    <a:p>
                      <a:r>
                        <a:rPr sz="900">
                          <a:solidFill>
                            <a:srgbClr val="5B6677"/>
                          </a:solidFill>
                        </a:rPr>
                        <a:t>2 of 6 absent · 4 partial · 0 enforced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</a:rPr>
                        <a:t>Grounding, PII handling &amp; graceful-failure exist — but prompt-based / model-asserted / log-only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2A1E"/>
                          </a:solidFill>
                        </a:rPr>
                        <a:t>No prompt-injection detection; the receipt image is trusted as input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B87A00"/>
                          </a:solidFill>
                        </a:rPr>
                        <a:t>C · Human oversight &amp; failsafes</a:t>
                      </a:r>
                    </a:p>
                    <a:p>
                      <a:r>
                        <a:rPr sz="950">
                          <a:solidFill>
                            <a:srgbClr val="5B6677"/>
                          </a:solidFill>
                        </a:rPr>
                        <a:t>human-in-control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B87A00"/>
                          </a:solidFill>
                        </a:rPr>
                        <a:t>20% missing</a:t>
                      </a:r>
                    </a:p>
                    <a:p>
                      <a:r>
                        <a:rPr sz="900">
                          <a:solidFill>
                            <a:srgbClr val="5B6677"/>
                          </a:solidFill>
                        </a:rPr>
                        <a:t>1 of 5 absent · 4 partial · 0 enforced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</a:rPr>
                        <a:t>Real reviewer authority; escalation persists a status; some conservative error-escalation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2A1E"/>
                          </a:solidFill>
                        </a:rPr>
                        <a:t>No timeout / deadline / default-deny; no oversight-effectiveness metrics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29E7F"/>
                          </a:solidFill>
                        </a:rPr>
                        <a:t>D · Audit, monitoring &amp; incident</a:t>
                      </a:r>
                    </a:p>
                    <a:p>
                      <a:r>
                        <a:rPr sz="950">
                          <a:solidFill>
                            <a:srgbClr val="5B6677"/>
                          </a:solidFill>
                        </a:rPr>
                        <a:t>record &amp; detect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29E7F"/>
                          </a:solidFill>
                        </a:rPr>
                        <a:t>80% missing</a:t>
                      </a:r>
                    </a:p>
                    <a:p>
                      <a:r>
                        <a:rPr sz="900">
                          <a:solidFill>
                            <a:srgbClr val="5B6677"/>
                          </a:solidFill>
                        </a:rPr>
                        <a:t>4 of 5 absent · 1 partial · 0 enforced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</a:rPr>
                        <a:t>End-to-end trace across logs + LangGraph checkpointer (correlated by claim)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8A2A1E"/>
                          </a:solidFill>
                        </a:rPr>
                        <a:t>Audit log is mutable &amp; CASCADE-deletable; no real-time monitoring→intervention or incident flow</a:t>
                      </a:r>
                    </a:p>
                  </a:txBody>
                  <a:tcPr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806440"/>
            <a:ext cx="11274552" cy="65836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87044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</a:rPr>
              <a:t>Overall: 61% of controls are missing entirely (17 of 28 Absent) and 0% are enforced.  Group A is the worst — 10 of 12 absent — so the POC targets it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82296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858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Building agentic-governance — an app-agnostic control plane</a:t>
            </a:r>
          </a:p>
          <a:p>
            <a:r>
              <a:rPr sz="1300">
                <a:solidFill>
                  <a:srgbClr val="C6D3EA"/>
                </a:solidFill>
              </a:rPr>
              <a:t>A pure decision core + injected adapters; the app integrates at one seam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6126480" cy="841248"/>
          </a:xfrm>
          <a:prstGeom prst="rect">
            <a:avLst/>
          </a:prstGeom>
          <a:solidFill>
            <a:srgbClr val="334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64008"/>
          <a:lstStyle/>
          <a:p>
            <a:pPr algn="ctr"/>
            <a:r>
              <a:rPr b="1" sz="1250">
                <a:solidFill>
                  <a:srgbClr val="FFFFFF"/>
                </a:solidFill>
              </a:rPr>
              <a:t>Host agentic app  (e.g. Expense AI)  — unchanged logic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CFDAEE"/>
                </a:solidFill>
              </a:rPr>
              <a:t>Sets trusted state via contextvars · one minimal DI edit · calls the tool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231136"/>
            <a:ext cx="457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B6677"/>
                </a:solidFill>
              </a:rPr>
              <a:t>▼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6126480" cy="896112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64008"/>
          <a:lstStyle/>
          <a:p>
            <a:pPr algn="ctr"/>
            <a:r>
              <a:rPr b="1" sz="1250">
                <a:solidFill>
                  <a:srgbClr val="FFFFFF"/>
                </a:solidFill>
              </a:rPr>
              <a:t>Integration adapter  —  app glue (one small module per app)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E6EEFB"/>
                </a:solidFill>
              </a:rPr>
              <a:t>governedMcpCallTool wrapper (identical signature)  ·  CallContext assembler</a:t>
            </a:r>
          </a:p>
          <a:p>
            <a:pPr>
              <a:spcBef>
                <a:spcPts val="100"/>
              </a:spcBef>
            </a:pPr>
            <a:r>
              <a:rPr sz="950">
                <a:solidFill>
                  <a:srgbClr val="E6EEFB"/>
                </a:solidFill>
              </a:rPr>
              <a:t>Injected, NOT imported — receives providers + real tool via install()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383280"/>
            <a:ext cx="457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B6677"/>
                </a:solidFill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21024"/>
            <a:ext cx="6126480" cy="267004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3675887"/>
            <a:ext cx="58338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FFFFFF"/>
                </a:solidFill>
              </a:rPr>
              <a:t>Governance CORE  —  app-agnostic (imports nothing app-specific)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14800"/>
            <a:ext cx="5760720" cy="621792"/>
          </a:xfrm>
          <a:prstGeom prst="rect">
            <a:avLst/>
          </a:prstGeom>
          <a:solidFill>
            <a:srgbClr val="2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4151376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</a:rPr>
              <a:t>Decision engine  →  Deny · Escalate · Auto-Execute · Observe</a:t>
            </a:r>
          </a:p>
          <a:p>
            <a:pPr>
              <a:spcAft>
                <a:spcPts val="0"/>
              </a:spcAft>
            </a:pPr>
            <a:r>
              <a:rPr sz="950" b="0">
                <a:solidFill>
                  <a:srgbClr val="B8C6E0"/>
                </a:solidFill>
              </a:rPr>
              <a:t>+ Governance Envelope built from trusted state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809744"/>
            <a:ext cx="5760720" cy="621792"/>
          </a:xfrm>
          <a:prstGeom prst="rect">
            <a:avLst/>
          </a:prstGeom>
          <a:solidFill>
            <a:srgbClr val="2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4846320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</a:rPr>
              <a:t>Ports (interfaces)</a:t>
            </a:r>
          </a:p>
          <a:p>
            <a:pPr>
              <a:spcAft>
                <a:spcPts val="0"/>
              </a:spcAft>
            </a:pPr>
            <a:r>
              <a:rPr sz="950" b="0">
                <a:solidFill>
                  <a:srgbClr val="B8C6E0"/>
                </a:solidFill>
              </a:rPr>
              <a:t>identity · mandate · policy-decision-point · counters · evidence · audit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504688"/>
            <a:ext cx="5760720" cy="621792"/>
          </a:xfrm>
          <a:prstGeom prst="rect">
            <a:avLst/>
          </a:prstGeom>
          <a:solidFill>
            <a:srgbClr val="223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5541264"/>
            <a:ext cx="5486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</a:rPr>
              <a:t>Adapters (pluggable)</a:t>
            </a:r>
          </a:p>
          <a:p>
            <a:pPr>
              <a:spcAft>
                <a:spcPts val="0"/>
              </a:spcAft>
            </a:pPr>
            <a:r>
              <a:rPr sz="950" b="0">
                <a:solidFill>
                  <a:srgbClr val="B8C6E0"/>
                </a:solidFill>
              </a:rPr>
              <a:t>pure-Python PDP · JSONL audit sink · in-memory registry &amp; counters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4848" y="1371600"/>
            <a:ext cx="49377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D6CDF"/>
                </a:solidFill>
              </a:rPr>
              <a:t>App-agnostic by construction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0F172A"/>
                </a:solidFill>
              </a:rPr>
              <a:t>•  core/ and ports/ import nothing app-specific (stdlib only) — verified in review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0F172A"/>
                </a:solidFill>
              </a:rPr>
              <a:t>•  The app injects its providers + real tool via install() — inject, not import; the core has zero dependency on the app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0F172A"/>
                </a:solidFill>
              </a:rPr>
              <a:t>•  Policies (allowlists, mandates, thresholds) live in the governance repo, not the app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0F172A"/>
                </a:solidFill>
              </a:rPr>
              <a:t>•  One integration seam: the tool boundary (mcpCallTool); model hooks added later for Group 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84848" y="3977639"/>
            <a:ext cx="4937760" cy="1417320"/>
          </a:xfrm>
          <a:prstGeom prst="rect">
            <a:avLst/>
          </a:prstGeom>
          <a:solidFill>
            <a:srgbClr val="E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86016" y="4069080"/>
            <a:ext cx="45354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129E7F"/>
                </a:solidFill>
              </a:rPr>
              <a:t>Onboard any agentic app in 2 steps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172A"/>
                </a:solidFill>
              </a:rPr>
              <a:t>1 · Write a thin adapter mapping its ambient state → CallContext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0F172A"/>
                </a:solidFill>
              </a:rPr>
              <a:t>2 · Add one composition-root DI edit to call the wrapper</a:t>
            </a:r>
          </a:p>
          <a:p>
            <a:pPr>
              <a:spcAft>
                <a:spcPts val="400"/>
              </a:spcAft>
            </a:pPr>
            <a:r>
              <a:rPr sz="1100" b="1">
                <a:solidFill>
                  <a:srgbClr val="129E7F"/>
                </a:solidFill>
              </a:rPr>
              <a:t>→ Core + policy engine unchanged.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84848" y="5532120"/>
            <a:ext cx="4937760" cy="7498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86016" y="5596128"/>
            <a:ext cx="453542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</a:rPr>
              <a:t>Deterministic decisions · no LLM in the loop · fail-closed when governance is unavailable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